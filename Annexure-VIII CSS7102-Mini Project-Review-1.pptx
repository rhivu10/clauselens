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6"/>
  </p:notesMasterIdLst>
  <p:sldIdLst>
    <p:sldId id="274" r:id="rId5"/>
    <p:sldId id="256" r:id="rId6"/>
    <p:sldId id="257" r:id="rId7"/>
    <p:sldId id="269" r:id="rId8"/>
    <p:sldId id="268" r:id="rId9"/>
    <p:sldId id="273" r:id="rId10"/>
    <p:sldId id="272" r:id="rId11"/>
    <p:sldId id="271"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55" dt="2026-08-07T14:56:04.085"/>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0" y="38024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dirty="0">
              <a:latin typeface="+mj-lt"/>
            </a:endParaRPr>
          </a:p>
        </p:txBody>
      </p:sp>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1573968" y="3788227"/>
            <a:ext cx="8724276" cy="4969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lnSpc>
                <a:spcPct val="150000"/>
              </a:lnSpc>
              <a:defRPr sz="1600" spc="300">
                <a:solidFill>
                  <a:srgbClr val="FFFFFF"/>
                </a:solidFill>
              </a:defRPr>
            </a:lvl1pPr>
          </a:lstStyle>
          <a:p>
            <a:r>
              <a:rPr lang="en-IN" sz="2000" dirty="0">
                <a:latin typeface="+mj-lt"/>
              </a:rPr>
              <a:t>School of Artificial Intelligence and Advanced Computing</a:t>
            </a:r>
            <a:endParaRPr sz="2000"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sp>
        <p:nvSpPr>
          <p:cNvPr id="13" name="TextBox 5"/>
          <p:cNvSpPr txBox="1"/>
          <p:nvPr/>
        </p:nvSpPr>
        <p:spPr>
          <a:xfrm>
            <a:off x="2114624" y="2392826"/>
            <a:ext cx="8295781"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spTree>
    <p:extLst>
      <p:ext uri="{BB962C8B-B14F-4D97-AF65-F5344CB8AC3E}">
        <p14:creationId xmlns:p14="http://schemas.microsoft.com/office/powerpoint/2010/main" val="1466048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dirty="0">
                <a:solidFill>
                  <a:schemeClr val="tx1"/>
                </a:solidFill>
                <a:latin typeface="Cambria" panose="02040503050406030204" pitchFamily="18" charset="0"/>
                <a:ea typeface="Cambria" panose="02040503050406030204" pitchFamily="18" charset="0"/>
              </a:rPr>
              <a:t>AI Assistant for Policy Document Comparison and Impact Analysis</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2307656158"/>
              </p:ext>
            </p:extLst>
          </p:nvPr>
        </p:nvGraphicFramePr>
        <p:xfrm>
          <a:off x="537597" y="2513340"/>
          <a:ext cx="5405001" cy="2103170"/>
        </p:xfrm>
        <a:graphic>
          <a:graphicData uri="http://schemas.openxmlformats.org/drawingml/2006/table">
            <a:tbl>
              <a:tblPr firstRow="1" bandRow="1">
                <a:tableStyleId>{5940675A-B579-460E-94D1-54222C63F5DA}</a:tableStyleId>
              </a:tblPr>
              <a:tblGrid>
                <a:gridCol w="2086252">
                  <a:extLst>
                    <a:ext uri="{9D8B030D-6E8A-4147-A177-3AD203B41FA5}">
                      <a16:colId xmlns:a16="http://schemas.microsoft.com/office/drawing/2014/main" val="20000"/>
                    </a:ext>
                  </a:extLst>
                </a:gridCol>
                <a:gridCol w="3318749">
                  <a:extLst>
                    <a:ext uri="{9D8B030D-6E8A-4147-A177-3AD203B41FA5}">
                      <a16:colId xmlns:a16="http://schemas.microsoft.com/office/drawing/2014/main" val="20001"/>
                    </a:ext>
                  </a:extLst>
                </a:gridCol>
              </a:tblGrid>
              <a:tr h="28560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tc>
                <a:extLst>
                  <a:ext uri="{0D108BD9-81ED-4DB2-BD59-A6C34878D82A}">
                    <a16:rowId xmlns:a16="http://schemas.microsoft.com/office/drawing/2014/main" val="10000"/>
                  </a:ext>
                </a:extLst>
              </a:tr>
              <a:tr h="265472">
                <a:tc>
                  <a:txBody>
                    <a:bodyPr/>
                    <a:lstStyle/>
                    <a:p>
                      <a:pPr marL="0" marR="0" lvl="0" indent="0" algn="ctr" rtl="0">
                        <a:spcBef>
                          <a:spcPts val="0"/>
                        </a:spcBef>
                        <a:spcAft>
                          <a:spcPts val="0"/>
                        </a:spcAft>
                        <a:buNone/>
                      </a:pPr>
                      <a:r>
                        <a:rPr lang="en-US" sz="1800" u="none" strike="noStrike" cap="none" dirty="0"/>
                        <a:t>20231CAI0012</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Rhivu Dutta</a:t>
                      </a:r>
                      <a:endParaRPr sz="1800" u="none" strike="noStrike" cap="none" dirty="0"/>
                    </a:p>
                  </a:txBody>
                  <a:tcPr marL="91450" marR="91450" marT="45725" marB="45725" anchor="ctr"/>
                </a:tc>
                <a:extLst>
                  <a:ext uri="{0D108BD9-81ED-4DB2-BD59-A6C34878D82A}">
                    <a16:rowId xmlns:a16="http://schemas.microsoft.com/office/drawing/2014/main" val="10002"/>
                  </a:ext>
                </a:extLst>
              </a:tr>
              <a:tr h="265472">
                <a:tc>
                  <a:txBody>
                    <a:bodyPr/>
                    <a:lstStyle/>
                    <a:p>
                      <a:pPr marL="0" marR="0" lvl="0" indent="0" algn="ctr" rtl="0">
                        <a:spcBef>
                          <a:spcPts val="0"/>
                        </a:spcBef>
                        <a:spcAft>
                          <a:spcPts val="0"/>
                        </a:spcAft>
                        <a:buNone/>
                      </a:pPr>
                      <a:r>
                        <a:rPr lang="en-US" sz="1800" dirty="0"/>
                        <a:t>20231CAI0161</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dirty="0"/>
                        <a:t>T Dhanush </a:t>
                      </a:r>
                      <a:endParaRPr sz="1800" u="none" strike="noStrike" cap="none" dirty="0"/>
                    </a:p>
                  </a:txBody>
                  <a:tcPr marL="91450" marR="91450" marT="45725" marB="45725" anchor="ctr"/>
                </a:tc>
                <a:extLst>
                  <a:ext uri="{0D108BD9-81ED-4DB2-BD59-A6C34878D82A}">
                    <a16:rowId xmlns:a16="http://schemas.microsoft.com/office/drawing/2014/main" val="10003"/>
                  </a:ext>
                </a:extLst>
              </a:tr>
              <a:tr h="265472">
                <a:tc>
                  <a:txBody>
                    <a:bodyPr/>
                    <a:lstStyle/>
                    <a:p>
                      <a:pPr marL="0" marR="0" lvl="0" indent="0" algn="ctr" rtl="0">
                        <a:spcBef>
                          <a:spcPts val="0"/>
                        </a:spcBef>
                        <a:spcAft>
                          <a:spcPts val="0"/>
                        </a:spcAft>
                        <a:buNone/>
                      </a:pPr>
                      <a:r>
                        <a:rPr lang="en-US" sz="1800" dirty="0"/>
                        <a:t>20231CAI0042</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dirty="0" err="1"/>
                        <a:t>Shrivyaaz</a:t>
                      </a:r>
                      <a:r>
                        <a:rPr lang="en-US" sz="1800" dirty="0"/>
                        <a:t> Sharma JB</a:t>
                      </a:r>
                      <a:endParaRPr sz="1800" u="none" strike="noStrike" cap="none" dirty="0"/>
                    </a:p>
                  </a:txBody>
                  <a:tcPr marL="91450" marR="91450" marT="45725" marB="45725" anchor="ctr"/>
                </a:tc>
                <a:extLst>
                  <a:ext uri="{0D108BD9-81ED-4DB2-BD59-A6C34878D82A}">
                    <a16:rowId xmlns:a16="http://schemas.microsoft.com/office/drawing/2014/main" val="10004"/>
                  </a:ext>
                </a:extLst>
              </a:tr>
              <a:tr h="265472">
                <a:tc>
                  <a:txBody>
                    <a:bodyPr/>
                    <a:lstStyle/>
                    <a:p>
                      <a:pPr marL="0" marR="0" lvl="0" indent="0" algn="ctr" rtl="0">
                        <a:spcBef>
                          <a:spcPts val="0"/>
                        </a:spcBef>
                        <a:spcAft>
                          <a:spcPts val="0"/>
                        </a:spcAft>
                        <a:buNone/>
                      </a:pPr>
                      <a:r>
                        <a:rPr lang="en-US" sz="1800" dirty="0"/>
                        <a:t>20231CAI0016</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D</a:t>
                      </a:r>
                      <a:r>
                        <a:rPr lang="en-US" sz="1800" dirty="0"/>
                        <a:t>HAKSHINA SHWAR MOHANKUM AR</a:t>
                      </a:r>
                      <a:endParaRPr sz="1800" u="none" strike="noStrike" cap="none" dirty="0"/>
                    </a:p>
                  </a:txBody>
                  <a:tcPr marL="91450" marR="91450" marT="45725" marB="45725" anchor="ct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US" sz="2000" b="1" dirty="0">
                <a:solidFill>
                  <a:schemeClr val="bg2">
                    <a:lumMod val="50000"/>
                  </a:schemeClr>
                </a:solidFill>
                <a:latin typeface="Cambria" panose="02040503050406030204" pitchFamily="18" charset="0"/>
                <a:ea typeface="Cambria" panose="02040503050406030204" pitchFamily="18" charset="0"/>
              </a:rPr>
              <a:t>Sachin V </a:t>
            </a:r>
            <a:r>
              <a:rPr lang="en-US" sz="2000" b="1" dirty="0" err="1">
                <a:solidFill>
                  <a:schemeClr val="bg2">
                    <a:lumMod val="50000"/>
                  </a:schemeClr>
                </a:solidFill>
                <a:latin typeface="Cambria" panose="02040503050406030204" pitchFamily="18" charset="0"/>
                <a:ea typeface="Cambria" panose="02040503050406030204" pitchFamily="18" charset="0"/>
              </a:rPr>
              <a:t>Roikar</a:t>
            </a:r>
            <a:endParaRPr sz="2000" b="1" dirty="0">
              <a:solidFill>
                <a:schemeClr val="bg2">
                  <a:lumMod val="50000"/>
                </a:schemeClr>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 </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1651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CSS7102- Mini  Project</a:t>
            </a:r>
            <a:endParaRPr lang="en-US"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 </a:t>
            </a:r>
            <a:r>
              <a:rPr lang="en-US" sz="2000" b="1" dirty="0" err="1">
                <a:latin typeface="Times New Roman" panose="02020603050405020304" pitchFamily="18" charset="0"/>
                <a:cs typeface="Times New Roman" panose="02020603050405020304" pitchFamily="18" charset="0"/>
              </a:rPr>
              <a:t>Dr.Zafar</a:t>
            </a:r>
            <a:r>
              <a:rPr lang="en-US" sz="2000" b="1" dirty="0">
                <a:latin typeface="Times New Roman" panose="02020603050405020304" pitchFamily="18" charset="0"/>
                <a:cs typeface="Times New Roman" panose="02020603050405020304" pitchFamily="18" charset="0"/>
              </a:rPr>
              <a:t> Ali Khan </a:t>
            </a:r>
            <a:endPar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latin typeface="Times New Roman" panose="02020603050405020304" pitchFamily="18" charset="0"/>
                <a:cs typeface="Times New Roman" panose="02020603050405020304" pitchFamily="18" charset="0"/>
              </a:rPr>
              <a:t>Ms. Suma N G</a:t>
            </a:r>
            <a:endPar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US" dirty="0">
                <a:latin typeface="Times New Roman" panose="02020603050405020304" pitchFamily="18" charset="0"/>
                <a:cs typeface="Times New Roman" panose="02020603050405020304" pitchFamily="18" charset="0"/>
              </a:rPr>
              <a:t>PSAIAC_27</a:t>
            </a:r>
            <a:r>
              <a:rPr lang="en-GB" dirty="0">
                <a:latin typeface="Times New Roman" panose="02020603050405020304" pitchFamily="18" charset="0"/>
                <a:ea typeface="Cambria" panose="02040503050406030204" pitchFamily="18" charset="0"/>
                <a:cs typeface="Times New Roman" panose="02020603050405020304" pitchFamily="18" charset="0"/>
              </a:rPr>
              <a:t>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Presidency University</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 Software</a:t>
            </a:r>
          </a:p>
          <a:p>
            <a:pPr marL="342900" lvl="0" indent="-190500" algn="just">
              <a:lnSpc>
                <a:spcPct val="17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Policy makers and administrators routinely compare lengthy documents such as regulations, contracts, and institutional policies to understand changes and implications. An AI assistant that highlights differences, maps them to affected stakeholders, and suggests impact narratives could streamline deliberation. The project should explore document alignment techniques, domain-specific ontologies, and interfaces that help users navigate from high-level summaries to detailed clause-level evidence.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Difficulty Level:  </a:t>
            </a:r>
            <a:r>
              <a:rPr lang="en-US" dirty="0">
                <a:latin typeface="Cambria" panose="02040503050406030204" pitchFamily="18" charset="0"/>
                <a:ea typeface="Cambria" panose="02040503050406030204" pitchFamily="18" charset="0"/>
              </a:rPr>
              <a:t>Hard</a:t>
            </a:r>
            <a:endParaRPr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https://github.com/Rhivu10/ClauseLens</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 Components:</a:t>
            </a:r>
          </a:p>
          <a:p>
            <a:pPr marL="609600" lvl="0" indent="-457200" algn="just" rtl="0">
              <a:spcBef>
                <a:spcPts val="0"/>
              </a:spcBef>
              <a:spcAft>
                <a:spcPts val="0"/>
              </a:spcAft>
              <a:buClr>
                <a:schemeClr val="dk1"/>
              </a:buClr>
              <a:buSzPct val="100000"/>
              <a:buAutoNum type="arabicPeriod"/>
            </a:pPr>
            <a:r>
              <a:rPr lang="en-US" b="1" dirty="0">
                <a:latin typeface="Times New Roman" panose="02020603050405020304" pitchFamily="18" charset="0"/>
                <a:cs typeface="Times New Roman" panose="02020603050405020304" pitchFamily="18" charset="0"/>
              </a:rPr>
              <a:t>Frontend &amp; Networking:</a:t>
            </a:r>
          </a:p>
          <a:p>
            <a:pPr marL="152400" lvl="0" indent="0" algn="just">
              <a:spcBef>
                <a:spcPts val="0"/>
              </a:spcBef>
              <a:buSzPct val="100000"/>
              <a:buNone/>
            </a:pPr>
            <a:r>
              <a:rPr lang="en-US" dirty="0">
                <a:latin typeface="Times New Roman" panose="02020603050405020304" pitchFamily="18" charset="0"/>
                <a:cs typeface="Times New Roman" panose="02020603050405020304" pitchFamily="18" charset="0"/>
              </a:rPr>
              <a:t>	1.1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Python framework for building the web UI</a:t>
            </a:r>
          </a:p>
          <a:p>
            <a:pPr marL="152400" lvl="0" indent="0" algn="just">
              <a:spcBef>
                <a:spcPts val="0"/>
              </a:spcBef>
              <a:buSzPct val="100000"/>
              <a:buNone/>
            </a:pPr>
            <a:r>
              <a:rPr lang="en-US" dirty="0">
                <a:latin typeface="Times New Roman" panose="02020603050405020304" pitchFamily="18" charset="0"/>
                <a:cs typeface="Times New Roman" panose="02020603050405020304" pitchFamily="18" charset="0"/>
              </a:rPr>
              <a:t>	1.2 </a:t>
            </a:r>
            <a:r>
              <a:rPr lang="en-US" dirty="0" err="1">
                <a:latin typeface="Times New Roman" panose="02020603050405020304" pitchFamily="18" charset="0"/>
                <a:cs typeface="Times New Roman" panose="02020603050405020304" pitchFamily="18" charset="0"/>
              </a:rPr>
              <a:t>Zrok</a:t>
            </a:r>
            <a:r>
              <a:rPr lang="en-US" dirty="0">
                <a:latin typeface="Times New Roman" panose="02020603050405020304" pitchFamily="18" charset="0"/>
                <a:cs typeface="Times New Roman" panose="02020603050405020304" pitchFamily="18" charset="0"/>
              </a:rPr>
              <a:t>: Secure tunneling software</a:t>
            </a:r>
          </a:p>
          <a:p>
            <a:pPr marL="76200" indent="0">
              <a:buNone/>
            </a:pPr>
            <a:r>
              <a:rPr lang="en-US" b="1" dirty="0">
                <a:latin typeface="Times New Roman" panose="02020603050405020304" pitchFamily="18" charset="0"/>
                <a:cs typeface="Times New Roman" panose="02020603050405020304" pitchFamily="18" charset="0"/>
              </a:rPr>
              <a:t>2. AI &amp; Machine Learning:</a:t>
            </a:r>
          </a:p>
          <a:p>
            <a:pPr marL="76200" indent="0">
              <a:buNone/>
            </a:pPr>
            <a:r>
              <a:rPr lang="en-US" dirty="0">
                <a:latin typeface="Times New Roman" panose="02020603050405020304" pitchFamily="18" charset="0"/>
                <a:cs typeface="Times New Roman" panose="02020603050405020304" pitchFamily="18" charset="0"/>
              </a:rPr>
              <a:t>	2.1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Running tensor operations and managing GPU acceleration</a:t>
            </a:r>
          </a:p>
          <a:p>
            <a:pPr marL="76200" indent="0">
              <a:buNone/>
            </a:pPr>
            <a:r>
              <a:rPr lang="en-US" dirty="0">
                <a:latin typeface="Times New Roman" panose="02020603050405020304" pitchFamily="18" charset="0"/>
                <a:cs typeface="Times New Roman" panose="02020603050405020304" pitchFamily="18" charset="0"/>
              </a:rPr>
              <a:t>	2.2 </a:t>
            </a:r>
            <a:r>
              <a:rPr lang="en-US" dirty="0" err="1">
                <a:latin typeface="Times New Roman" panose="02020603050405020304" pitchFamily="18" charset="0"/>
                <a:cs typeface="Times New Roman" panose="02020603050405020304" pitchFamily="18" charset="0"/>
              </a:rPr>
              <a:t>HuggingFace</a:t>
            </a:r>
            <a:r>
              <a:rPr lang="en-US" dirty="0">
                <a:latin typeface="Times New Roman" panose="02020603050405020304" pitchFamily="18" charset="0"/>
                <a:cs typeface="Times New Roman" panose="02020603050405020304" pitchFamily="18" charset="0"/>
              </a:rPr>
              <a:t>: Core Library to downloading models</a:t>
            </a:r>
          </a:p>
          <a:p>
            <a:pPr marL="76200" indent="0">
              <a:buNone/>
            </a:pPr>
            <a:r>
              <a:rPr lang="en-US" dirty="0">
                <a:latin typeface="Times New Roman" panose="02020603050405020304" pitchFamily="18" charset="0"/>
                <a:cs typeface="Times New Roman" panose="02020603050405020304" pitchFamily="18" charset="0"/>
              </a:rPr>
              <a:t>	2.3 </a:t>
            </a:r>
            <a:r>
              <a:rPr lang="en-US" dirty="0" err="1">
                <a:latin typeface="Times New Roman" panose="02020603050405020304" pitchFamily="18" charset="0"/>
                <a:cs typeface="Times New Roman" panose="02020603050405020304" pitchFamily="18" charset="0"/>
              </a:rPr>
              <a:t>BitsandBytes</a:t>
            </a:r>
            <a:r>
              <a:rPr lang="en-US" dirty="0">
                <a:latin typeface="Times New Roman" panose="02020603050405020304" pitchFamily="18" charset="0"/>
                <a:cs typeface="Times New Roman" panose="02020603050405020304" pitchFamily="18" charset="0"/>
              </a:rPr>
              <a:t>: Quantization of Large models</a:t>
            </a:r>
          </a:p>
          <a:p>
            <a:pPr marL="76200" indent="0">
              <a:buNone/>
            </a:pPr>
            <a:r>
              <a:rPr lang="en-US" b="1" dirty="0">
                <a:latin typeface="Times New Roman" panose="02020603050405020304" pitchFamily="18" charset="0"/>
                <a:cs typeface="Times New Roman" panose="02020603050405020304" pitchFamily="18" charset="0"/>
              </a:rPr>
              <a:t>3. Document Processing &amp; Retrieval:</a:t>
            </a:r>
          </a:p>
          <a:p>
            <a:pPr marL="76200" indent="0">
              <a:buNone/>
            </a:pPr>
            <a:r>
              <a:rPr lang="en-US" dirty="0">
                <a:latin typeface="Times New Roman" panose="02020603050405020304" pitchFamily="18" charset="0"/>
                <a:cs typeface="Times New Roman" panose="02020603050405020304" pitchFamily="18" charset="0"/>
              </a:rPr>
              <a:t>	3.1PyMuPDF: PDF Parsing</a:t>
            </a:r>
          </a:p>
          <a:p>
            <a:pPr marL="76200" indent="0">
              <a:buNone/>
            </a:pPr>
            <a:r>
              <a:rPr lang="en-US" dirty="0">
                <a:latin typeface="Times New Roman" panose="02020603050405020304" pitchFamily="18" charset="0"/>
                <a:cs typeface="Times New Roman" panose="02020603050405020304" pitchFamily="18" charset="0"/>
              </a:rPr>
              <a:t>	3.2 </a:t>
            </a:r>
            <a:r>
              <a:rPr lang="en-US"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Text embeddings for RAG</a:t>
            </a:r>
          </a:p>
          <a:p>
            <a:pPr marL="342900" lvl="0" indent="-190500" algn="just" rtl="0">
              <a:spcBef>
                <a:spcPts val="0"/>
              </a:spcBef>
              <a:spcAft>
                <a:spcPts val="0"/>
              </a:spcAft>
              <a:buClr>
                <a:schemeClr val="dk1"/>
              </a:buClr>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spcBef>
                <a:spcPts val="0"/>
              </a:spcBef>
              <a:spcAft>
                <a:spcPts val="0"/>
              </a:spcAft>
              <a:buClr>
                <a:schemeClr val="dk1"/>
              </a:buClr>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76E1B194-5291-308D-2892-AD826B319E7A}"/>
              </a:ext>
            </a:extLst>
          </p:cNvPr>
          <p:cNvPicPr>
            <a:picLocks noChangeAspect="1"/>
          </p:cNvPicPr>
          <p:nvPr/>
        </p:nvPicPr>
        <p:blipFill>
          <a:blip r:embed="rId3"/>
          <a:stretch>
            <a:fillRect/>
          </a:stretch>
        </p:blipFill>
        <p:spPr>
          <a:xfrm>
            <a:off x="1036003" y="1978025"/>
            <a:ext cx="9500235" cy="3440430"/>
          </a:xfrm>
          <a:prstGeom prst="rect">
            <a:avLst/>
          </a:prstGeom>
        </p:spPr>
      </p:pic>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2DE431DF-9A96-87CA-A9BA-BA33033EA8EF}"/>
              </a:ext>
            </a:extLst>
          </p:cNvPr>
          <p:cNvPicPr>
            <a:picLocks noChangeAspect="1"/>
          </p:cNvPicPr>
          <p:nvPr/>
        </p:nvPicPr>
        <p:blipFill>
          <a:blip r:embed="rId3"/>
          <a:stretch>
            <a:fillRect/>
          </a:stretch>
        </p:blipFill>
        <p:spPr>
          <a:xfrm>
            <a:off x="1066483" y="2055178"/>
            <a:ext cx="9815195" cy="2493645"/>
          </a:xfrm>
          <a:prstGeom prst="rect">
            <a:avLst/>
          </a:prstGeom>
        </p:spPr>
      </p:pic>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C4004A4A-9EED-2970-ED75-5B19B79D0522}"/>
              </a:ext>
            </a:extLst>
          </p:cNvPr>
          <p:cNvPicPr>
            <a:picLocks noChangeAspect="1"/>
          </p:cNvPicPr>
          <p:nvPr/>
        </p:nvPicPr>
        <p:blipFill>
          <a:blip r:embed="rId3"/>
          <a:stretch>
            <a:fillRect/>
          </a:stretch>
        </p:blipFill>
        <p:spPr>
          <a:xfrm>
            <a:off x="1007397" y="1222375"/>
            <a:ext cx="9972368" cy="4486993"/>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a:buFont typeface="Arial" panose="05000000000000000000" pitchFamily="2" charset="2"/>
              <a:buChar char="•"/>
            </a:pPr>
            <a:r>
              <a:rPr lang="en-US" sz="2200" dirty="0">
                <a:latin typeface="Times New Roman"/>
                <a:cs typeface="Times New Roman"/>
              </a:rPr>
              <a:t>A. Suresh, M. N. H. N. M. N. et al., "</a:t>
            </a:r>
            <a:r>
              <a:rPr lang="en-US" sz="2200" dirty="0" err="1">
                <a:latin typeface="Times New Roman"/>
                <a:cs typeface="Times New Roman"/>
              </a:rPr>
              <a:t>LegDiff</a:t>
            </a:r>
            <a:r>
              <a:rPr lang="en-US" sz="2200" dirty="0">
                <a:latin typeface="Times New Roman"/>
                <a:cs typeface="Times New Roman"/>
              </a:rPr>
              <a:t>: Fine-Grained Semantic Comparison of Legal Documents Using Large Language Models," in </a:t>
            </a:r>
            <a:r>
              <a:rPr lang="en-US" sz="2200" i="1" dirty="0">
                <a:latin typeface="Times New Roman"/>
                <a:cs typeface="Times New Roman"/>
              </a:rPr>
              <a:t>Proceedings of the 64th Annual Meeting of the Association for Computational Linguistics: Student Research Workshop (ACL SRW)</a:t>
            </a:r>
            <a:r>
              <a:rPr lang="en-US" sz="2200" dirty="0">
                <a:latin typeface="Times New Roman"/>
                <a:cs typeface="Times New Roman"/>
              </a:rPr>
              <a:t>, 2026.</a:t>
            </a:r>
            <a:endParaRPr lang="en-US" sz="2200" dirty="0">
              <a:latin typeface="Times New Roman"/>
              <a:ea typeface="Cambria" panose="02040503050406030204" pitchFamily="18" charset="0"/>
              <a:cs typeface="Times New Roman"/>
            </a:endParaRPr>
          </a:p>
          <a:p>
            <a:pPr>
              <a:buFont typeface="Arial" panose="05000000000000000000" pitchFamily="2" charset="2"/>
              <a:buChar char="•"/>
            </a:pPr>
            <a:r>
              <a:rPr lang="en-US" sz="2200">
                <a:latin typeface="Times New Roman"/>
                <a:cs typeface="Times New Roman"/>
              </a:rPr>
              <a:t> M. Umer, M. M. Hassan, et al., "Evaluating Knowledge-Based Approaches for Legal Text Analysis: A Benchmark Study," </a:t>
            </a:r>
            <a:r>
              <a:rPr lang="en-US" sz="2200" i="1">
                <a:latin typeface="Times New Roman"/>
                <a:cs typeface="Times New Roman"/>
              </a:rPr>
              <a:t>Machine Learning with Applications</a:t>
            </a:r>
            <a:r>
              <a:rPr lang="en-US" sz="2200">
                <a:latin typeface="Times New Roman"/>
                <a:cs typeface="Times New Roman"/>
              </a:rPr>
              <a:t>, vol. 17, 2026.</a:t>
            </a:r>
            <a:endParaRPr lang="en-US">
              <a:latin typeface="Times New Roman"/>
              <a:cs typeface="Times New Roman"/>
            </a:endParaRPr>
          </a:p>
          <a:p>
            <a:pPr>
              <a:buFont typeface="Arial" panose="05000000000000000000" pitchFamily="2" charset="2"/>
              <a:buChar char="•"/>
            </a:pPr>
            <a:r>
              <a:rPr lang="en-US" sz="2200">
                <a:latin typeface="Times New Roman"/>
                <a:cs typeface="Times New Roman"/>
              </a:rPr>
              <a:t>K. Chalkidis, I. </a:t>
            </a:r>
            <a:r>
              <a:rPr lang="en-US" sz="2200" err="1">
                <a:latin typeface="Times New Roman"/>
                <a:cs typeface="Times New Roman"/>
              </a:rPr>
              <a:t>Androutsopoulos</a:t>
            </a:r>
            <a:r>
              <a:rPr lang="en-US" sz="2200" dirty="0">
                <a:latin typeface="Times New Roman"/>
                <a:cs typeface="Times New Roman"/>
              </a:rPr>
              <a:t>, N. </a:t>
            </a:r>
            <a:r>
              <a:rPr lang="en-US" sz="2200" err="1">
                <a:latin typeface="Times New Roman"/>
                <a:cs typeface="Times New Roman"/>
              </a:rPr>
              <a:t>Aletras</a:t>
            </a:r>
            <a:r>
              <a:rPr lang="en-US" sz="2200" dirty="0">
                <a:latin typeface="Times New Roman"/>
                <a:cs typeface="Times New Roman"/>
              </a:rPr>
              <a:t>, et al., "Natural Language Processing for the Legal Domain," </a:t>
            </a:r>
            <a:r>
              <a:rPr lang="en-US" sz="2200" i="1" dirty="0">
                <a:latin typeface="Times New Roman"/>
                <a:cs typeface="Times New Roman"/>
              </a:rPr>
              <a:t>ACM Computing Surveys</a:t>
            </a:r>
            <a:r>
              <a:rPr lang="en-US" sz="2200" dirty="0">
                <a:latin typeface="Times New Roman"/>
                <a:cs typeface="Times New Roman"/>
              </a:rPr>
              <a:t>, vol. 56, no. 3, pp. 1-38, 2023.</a:t>
            </a:r>
            <a:endParaRPr lang="en-US" dirty="0">
              <a:latin typeface="Times New Roman"/>
              <a:cs typeface="Times New Roman"/>
            </a:endParaRPr>
          </a:p>
          <a:p>
            <a:pPr>
              <a:buFont typeface="Arial" panose="05000000000000000000" pitchFamily="2" charset="2"/>
              <a:buChar char="•"/>
            </a:pPr>
            <a:r>
              <a:rPr lang="en-US" sz="2200" dirty="0">
                <a:latin typeface="Times New Roman"/>
                <a:cs typeface="Times New Roman"/>
              </a:rPr>
              <a:t>S. Mandal, N. K. Sahu, et al., "Legal Case Document Similarity: You Need Both Network and Text," </a:t>
            </a:r>
            <a:r>
              <a:rPr lang="en-US" sz="2200" i="1" dirty="0" err="1">
                <a:latin typeface="Times New Roman"/>
                <a:cs typeface="Times New Roman"/>
              </a:rPr>
              <a:t>arXiv</a:t>
            </a:r>
            <a:r>
              <a:rPr lang="en-US" sz="2200" i="1" dirty="0">
                <a:latin typeface="Times New Roman"/>
                <a:cs typeface="Times New Roman"/>
              </a:rPr>
              <a:t> preprint arXiv:2209.12474</a:t>
            </a:r>
            <a:r>
              <a:rPr lang="en-US" sz="2200" dirty="0">
                <a:latin typeface="Times New Roman"/>
                <a:cs typeface="Times New Roman"/>
              </a:rPr>
              <a:t>, 2022.</a:t>
            </a:r>
            <a:endParaRPr lang="en-US" dirty="0">
              <a:latin typeface="Times New Roman"/>
              <a:cs typeface="Times New Roman"/>
            </a:endParaRPr>
          </a:p>
          <a:p>
            <a:pPr>
              <a:buFont typeface="Arial" panose="05000000000000000000" pitchFamily="2" charset="2"/>
              <a:buChar char="•"/>
            </a:pPr>
            <a:r>
              <a:rPr lang="en-US" sz="2200" dirty="0">
                <a:latin typeface="Times New Roman"/>
                <a:cs typeface="Times New Roman"/>
              </a:rPr>
              <a:t> K. Chalkidis, I. </a:t>
            </a:r>
            <a:r>
              <a:rPr lang="en-US" sz="2200" dirty="0" err="1">
                <a:latin typeface="Times New Roman"/>
                <a:cs typeface="Times New Roman"/>
              </a:rPr>
              <a:t>Androutsopoulos</a:t>
            </a:r>
            <a:r>
              <a:rPr lang="en-US" sz="2200" dirty="0">
                <a:latin typeface="Times New Roman"/>
                <a:cs typeface="Times New Roman"/>
              </a:rPr>
              <a:t>, M. Malakasiotis, et al., "</a:t>
            </a:r>
            <a:r>
              <a:rPr lang="en-US" sz="2200" dirty="0" err="1">
                <a:latin typeface="Times New Roman"/>
                <a:cs typeface="Times New Roman"/>
              </a:rPr>
              <a:t>LexGLUE</a:t>
            </a:r>
            <a:r>
              <a:rPr lang="en-US" sz="2200" dirty="0">
                <a:latin typeface="Times New Roman"/>
                <a:cs typeface="Times New Roman"/>
              </a:rPr>
              <a:t>: A Benchmark Dataset for Legal Language Understanding in English," in </a:t>
            </a:r>
            <a:r>
              <a:rPr lang="en-US" sz="2200" i="1" dirty="0">
                <a:latin typeface="Times New Roman"/>
                <a:cs typeface="Times New Roman"/>
              </a:rPr>
              <a:t>Proceedings of the 60th Annual Meeting of the Association for Computational Linguistics (ACL)</a:t>
            </a:r>
            <a:r>
              <a:rPr lang="en-US" sz="2200" dirty="0">
                <a:latin typeface="Times New Roman"/>
                <a:cs typeface="Times New Roman"/>
              </a:rPr>
              <a:t>, 2022, pp. 4310-4330.</a:t>
            </a:r>
            <a:endParaRPr lang="en-US" dirty="0">
              <a:latin typeface="Times New Roman"/>
              <a:cs typeface="Times New Roman"/>
            </a:endParaRPr>
          </a:p>
          <a:p>
            <a:pPr marL="495300" indent="-342900">
              <a:spcBef>
                <a:spcPts val="0"/>
              </a:spcBef>
              <a:buFont typeface="Wingdings" panose="05000000000000000000" pitchFamily="2" charset="2"/>
              <a:buChar char="Ø"/>
            </a:pPr>
            <a:endParaRPr lang="en-US" sz="2200" dirty="0">
              <a:latin typeface="Times New Roman"/>
              <a:ea typeface="Cambria" panose="02040503050406030204" pitchFamily="18" charset="0"/>
              <a:cs typeface="Times New Roman"/>
            </a:endParaRPr>
          </a:p>
          <a:p>
            <a:pPr marL="152400" indent="0">
              <a:spcBef>
                <a:spcPts val="0"/>
              </a:spcBef>
              <a:buNone/>
            </a:pPr>
            <a:r>
              <a:rPr lang="en-US" sz="2200" dirty="0">
                <a:latin typeface="Times New Roman"/>
                <a:ea typeface="Cambria"/>
                <a:cs typeface="Times New Roman"/>
              </a:rPr>
              <a:t> </a:t>
            </a:r>
            <a:endParaRPr sz="2200">
              <a:latin typeface="Times New Roman"/>
              <a:ea typeface="Cambria"/>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Props1.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D2043A-A905-44DC-A627-E0BB4B155825}">
  <ds:schemaRefs>
    <ds:schemaRef ds:uri="http://schemas.microsoft.com/sharepoint/v3/contenttype/forms"/>
  </ds:schemaRefs>
</ds:datastoreItem>
</file>

<file path=customXml/itemProps3.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docProps/app.xml><?xml version="1.0" encoding="utf-8"?>
<Properties xmlns="http://schemas.openxmlformats.org/officeDocument/2006/extended-properties" xmlns:vt="http://schemas.openxmlformats.org/officeDocument/2006/docPropsVTypes">
  <TotalTime>323</TotalTime>
  <Words>380</Words>
  <Application>Microsoft Office PowerPoint</Application>
  <PresentationFormat>Widescreen</PresentationFormat>
  <Paragraphs>75</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Bioinformatics</vt:lpstr>
      <vt:lpstr>PowerPoint Presentation</vt:lpstr>
      <vt:lpstr>AI Assistant for Policy Document Comparison and Impact Analysis</vt:lpstr>
      <vt:lpstr>Content</vt:lpstr>
      <vt:lpstr>Problem Statement Number: PSAIAC_27 </vt:lpstr>
      <vt:lpstr>Github Link</vt:lpstr>
      <vt:lpstr>Analysis of Problem Statement</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Rhivu Dutta</cp:lastModifiedBy>
  <cp:revision>68</cp:revision>
  <dcterms:modified xsi:type="dcterms:W3CDTF">2026-08-07T14:57:30Z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